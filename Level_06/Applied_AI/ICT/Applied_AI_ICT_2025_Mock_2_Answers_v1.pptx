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E9D3-2189-DB31-582F-A49BD3D91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DC1AA-EC07-BB5E-0A81-FAC867B38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DD9CD-3003-87E0-13EB-0105C2F3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5C1D8-988E-0A80-0444-8816B8A7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F2A49-A63B-E69F-E04A-D57440C3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2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2B54-5206-942B-6716-7C5852CE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F20AF-8D03-7D6D-C066-38DC78197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F61F8-0BF6-E614-4430-1214E82D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C054A-FBFA-E9B3-3881-EB3F25E6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274A9-B685-C9BA-277C-50D0814C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92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9CFF9-C8D8-90CD-E767-30E28D2AB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159D5-5C29-8C60-70E8-80BAD10EB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1F285-07D4-35C4-235C-4CCDC033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48913-024A-301A-4214-2650C998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BB27F-E0D7-4342-00A2-8EE77DE0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4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3C58-13CE-BB60-4818-33747009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96C11-5621-4C51-7FEF-BFB43581E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007BD-C2A5-C1BD-CDA0-E37369D45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9550A-1189-17FF-DC3F-6B048C37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BA669-A108-2233-9572-AA47AFE06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A940A-C4F2-448F-1171-7AB6842A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8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C03F-578B-250F-F9DA-B041248A2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F45D7-FA28-E215-3B95-654C235E9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02D10-CDBC-2D97-0D09-77C54E9C9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F5C04-4921-A068-DF03-6401EF670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F02EF-82CF-1B82-DF5F-10B455C1E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A1477-2FA2-8E93-318E-7904994F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8FC1B-2528-3CBC-2B5A-E2BB2CFFC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FF5EC-DB87-ED42-74A7-5689C91AA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9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96745-E50B-DCFA-C381-4C60E66C5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C3C201-0B37-410F-8D88-602611EE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FC02F-1395-EA09-29C2-420556F5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FA6A1-4CF6-0AB0-57B6-6C5C59E1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7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F7174-0C5C-E6E1-89B8-546116F9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DEDC2-62FF-9C90-DA7B-147A63ECA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9E345-C64D-D18E-7A57-F81CAA77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3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B52D-2D24-FB12-B987-A88B206C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E624A-7639-C26B-767B-919B9FFE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3AB89-ABAF-A114-D26F-209D59980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50E4B-9087-018B-6F8C-B61E1090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2FB9E-E64C-7C19-E389-5460960F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83A6F-2759-AE62-C4CF-CB181BE1D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51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09A9-EA75-56C2-2251-C560AE35C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7DC08B-197B-FABB-0B79-B415DCF44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5BA37-3AFD-4810-C946-C865F3070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D4003-4E8D-EBF8-CBE6-F68F8965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5EBC8-B90B-3E22-888A-D5E2E35E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79206-849C-1513-84BB-12404A28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25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40F3-D36B-2BF4-DC91-4ADAE32F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1AA3D-A0F8-876D-5B31-6AD51005A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85663-3F02-8562-620E-2E48E44E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63D01-6B9F-39B8-0C4E-001869C1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7DB36-7E2B-4CB9-78A8-ECE222FF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3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CB04FC-4096-23FD-175B-E96ACF987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07D35-B11B-9F63-87D4-A795681A8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4C164-5CE4-440D-D202-3BE00C63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96152-45F4-3692-D4C8-D3432011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C4A84-B04C-37C0-C412-15BECD85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565430-0503-E486-A7A5-C5413F176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82CEA-67DF-FFE0-9B9B-1846A287D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FB50C-7AEA-E464-636E-36964CCCF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3FCD0-14D5-4B59-A32F-15682BF71DD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A6765-9DC1-AD1C-282B-695D62A89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9B1A5-8F6A-6A34-9596-5886AB85F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8CDDD-AC89-4717-A0B4-421B3C81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2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BEDE-CA9E-8B8D-A220-963FD12669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Mock ICT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45C03-F101-58B2-3998-19CAB7D6C0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Applied AI – 2025/26</a:t>
            </a:r>
          </a:p>
        </p:txBody>
      </p:sp>
    </p:spTree>
    <p:extLst>
      <p:ext uri="{BB962C8B-B14F-4D97-AF65-F5344CB8AC3E}">
        <p14:creationId xmlns:p14="http://schemas.microsoft.com/office/powerpoint/2010/main" val="713650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ADBC-366E-3362-A6BE-6150257B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E971A-CB5F-EA7A-A76F-14C6B6FC9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Learning in Neural Networks happens through the adjustment of weights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048960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440AB-09A4-CD7F-16A3-C06AD6FD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695F-D909-94A0-5F53-B0D47544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41E90-0BC8-CF50-C3C8-62D4DD1B0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Learning in Neural Networks happens through the adjustment of weights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True</a:t>
            </a:r>
          </a:p>
          <a:p>
            <a:pPr marL="0" indent="0">
              <a:buNone/>
            </a:pPr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862520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0A06-DDC6-EB1F-C54A-FE9668676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CBEC-EC86-250D-F767-A749F4D9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2C52E-0305-ADC7-C80D-6674348B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In computer vision implementations, classification is more difficult than segmentation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885443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C5EA-EB98-544C-BD93-622BD88B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F62F-E247-836D-D7AD-4EB3AFEB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6372-7114-82C0-250C-AB173820D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In computer vision implementations, classification is more difficult than segmentation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b="1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557468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FA7A2-433A-69E8-4770-3C4BDEED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5E1C-8FF5-DD25-1D43-034A1395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ECAA7-105E-D50B-AFA3-3F376CD2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ChatGPT uses LSTM models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512464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5D9BA-830E-EB6F-BFB0-E4BB3EF7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8B6D-1BB2-41F3-9C95-8B6076C8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FEDCE-2D6A-4F24-1800-D715A1BEF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ChatGPT uses LSTM models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b="1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79583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66A04-BE17-82E7-83C0-9D27A665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057E8-4D01-4140-FC16-9BFA25E9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AA9B3-99C2-FFC2-4B2E-D127E6EE1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Generative AI models learn the patterns and structure of their input training data and then generate new data that has similar characteristics.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91412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DA24-DC89-DE8E-6BF0-502DA07CA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664C-6175-D811-9522-FCBC9CF1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8F0C-B559-DEA2-9767-EE88B9249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Generative AI models learn the patterns and structure of their input training data and then generate new data that has similar characteristics.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True</a:t>
            </a:r>
          </a:p>
          <a:p>
            <a:pPr marL="0" indent="0">
              <a:buNone/>
            </a:pPr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93520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6133-7998-6DCD-0471-4B525C4E2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850A1-35CE-3739-8FBF-7E5B18BA5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Question 5</a:t>
            </a:r>
          </a:p>
          <a:p>
            <a:pPr marL="0" indent="0">
              <a:buNone/>
            </a:pPr>
            <a:r>
              <a:rPr lang="en-US" dirty="0"/>
              <a:t>Identify the type of learning in which only labelled training data is used.</a:t>
            </a:r>
          </a:p>
          <a:p>
            <a:pPr marL="0" indent="0">
              <a:buNone/>
            </a:pPr>
            <a:r>
              <a:rPr lang="en-US" dirty="0"/>
              <a:t>    </a:t>
            </a:r>
          </a:p>
          <a:p>
            <a:r>
              <a:rPr lang="en-US" dirty="0"/>
              <a:t>Unsupervised learning</a:t>
            </a:r>
          </a:p>
          <a:p>
            <a:r>
              <a:rPr lang="en-US" dirty="0"/>
              <a:t>Reinforcement learning</a:t>
            </a:r>
          </a:p>
          <a:p>
            <a:r>
              <a:rPr lang="en-US" dirty="0"/>
              <a:t>Semi supervised learning</a:t>
            </a:r>
          </a:p>
          <a:p>
            <a:r>
              <a:rPr lang="en-US" dirty="0"/>
              <a:t>Supervised learning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77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04B9A-BF09-248A-4275-7047C6D2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06ED-4FDC-AD2D-02DA-BBA24D94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4360D-0CEC-3216-4A6A-8AB8F083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Question 5</a:t>
            </a:r>
          </a:p>
          <a:p>
            <a:pPr marL="0" indent="0">
              <a:buNone/>
            </a:pPr>
            <a:r>
              <a:rPr lang="en-US" dirty="0"/>
              <a:t>Identify the type of learning in which only labelled training data is used.</a:t>
            </a:r>
          </a:p>
          <a:p>
            <a:pPr marL="0" indent="0">
              <a:buNone/>
            </a:pPr>
            <a:r>
              <a:rPr lang="en-US" dirty="0"/>
              <a:t>    </a:t>
            </a:r>
          </a:p>
          <a:p>
            <a:r>
              <a:rPr lang="en-US" dirty="0"/>
              <a:t>Unsupervised learning</a:t>
            </a:r>
          </a:p>
          <a:p>
            <a:r>
              <a:rPr lang="en-US" dirty="0"/>
              <a:t>Reinforcement learning</a:t>
            </a:r>
          </a:p>
          <a:p>
            <a:r>
              <a:rPr lang="en-US" dirty="0"/>
              <a:t>Semi supervised learning</a:t>
            </a:r>
          </a:p>
          <a:p>
            <a:r>
              <a:rPr lang="en-US" b="1" dirty="0"/>
              <a:t>Supervised learning</a:t>
            </a:r>
          </a:p>
          <a:p>
            <a:pPr marL="0" indent="0">
              <a:buNone/>
            </a:pPr>
            <a:r>
              <a:rPr lang="en-US" b="1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47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B5D1-C259-9C9D-9FC6-545C6700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6F1B2-25C2-623D-59FC-28D6AF547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Question 6</a:t>
            </a:r>
          </a:p>
          <a:p>
            <a:pPr marL="0" indent="0">
              <a:buNone/>
            </a:pPr>
            <a:r>
              <a:rPr lang="en-US" dirty="0"/>
              <a:t>You are asked to implement a neural network that classifies samples into 5 groups. Each sample is represented by 3 values. How would you design your neural network?  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Input layer with 3 inputs, output layer with 5 outputs and multiple hidden layers.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Input layer with 5 inputs, output layer with 3 outputs and multiple hidden layers.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Input layer with 2 inputs, output layer with2 outputs, and multiple hidden layers,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neural network is not possible to implement.  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392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C9AB-6867-4E1E-FD87-BD6E5ACF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8C15-DF04-00BA-0D2C-FF8CA2A2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D6D4F-86A6-387F-8E4E-A5B50F18C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7</a:t>
            </a:r>
          </a:p>
          <a:p>
            <a:pPr marL="0" indent="0">
              <a:buNone/>
            </a:pPr>
            <a:r>
              <a:rPr lang="en-US" dirty="0"/>
              <a:t>Select the primary purpose of large language models (LLMs)  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create a new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process and understand vast amounts of natural language data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translate languages in real-time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summarize text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956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9514-9FBA-E53D-FCE4-8BADCF47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F09C-1E9A-1AA4-B6B6-F8B57AAD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303DB-8792-3144-0392-87193B9BE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8</a:t>
            </a:r>
          </a:p>
          <a:p>
            <a:pPr marL="0" indent="0">
              <a:buNone/>
            </a:pPr>
            <a:r>
              <a:rPr lang="en-US" dirty="0"/>
              <a:t>You have a balanced dataset with 1000 samples. Which of the following data split strategies are correct?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50% train, 50% test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95% train, 5% test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80% train, 10% validation, 10% test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20% train, 10% validation, 70% test</a:t>
            </a:r>
          </a:p>
        </p:txBody>
      </p:sp>
    </p:spTree>
    <p:extLst>
      <p:ext uri="{BB962C8B-B14F-4D97-AF65-F5344CB8AC3E}">
        <p14:creationId xmlns:p14="http://schemas.microsoft.com/office/powerpoint/2010/main" val="1029750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562E3-2BB8-41CE-1331-B46D73377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1690-CB6B-FAD1-5AA3-531E715D9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BB00E-0996-2A12-B2E6-008140DB2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9</a:t>
            </a:r>
          </a:p>
          <a:p>
            <a:pPr marL="0" indent="0">
              <a:buNone/>
            </a:pPr>
            <a:r>
              <a:rPr lang="en-US" dirty="0"/>
              <a:t>in a CNN model the Input volume is 32x32x3. Applying 10  5x5 filters with stride 1 , padding 2 what is the output feature volume?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36x36x10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34x34x10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32x32x10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30x30x10</a:t>
            </a:r>
          </a:p>
        </p:txBody>
      </p:sp>
    </p:spTree>
    <p:extLst>
      <p:ext uri="{BB962C8B-B14F-4D97-AF65-F5344CB8AC3E}">
        <p14:creationId xmlns:p14="http://schemas.microsoft.com/office/powerpoint/2010/main" val="2463226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A313A-D05E-5986-324B-C80DEB1F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3416-7F61-C4B2-1B05-DF914F84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A373-A78E-C4F2-4A74-C6285F7C6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9</a:t>
            </a:r>
          </a:p>
          <a:p>
            <a:pPr marL="0" indent="0">
              <a:buNone/>
            </a:pPr>
            <a:r>
              <a:rPr lang="en-US" dirty="0"/>
              <a:t>in a CNN model the Input volume is 32x32x3. Applying 10  5x5 filters with stride 1 , padding 2 what is the output feature volume?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36x36x10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34x34x10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32x32x10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30x30x10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B2AC8D-6F6E-BC59-AF3F-E659545772DC}"/>
              </a:ext>
            </a:extLst>
          </p:cNvPr>
          <p:cNvSpPr txBox="1"/>
          <p:nvPr/>
        </p:nvSpPr>
        <p:spPr>
          <a:xfrm>
            <a:off x="3519949" y="3570409"/>
            <a:ext cx="8790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urier New" panose="02070309020205020404" pitchFamily="49" charset="0"/>
              </a:rPr>
              <a:t>Output Size = (Input Size-Filter Size+2*Padding)/Stride) + 1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133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09D9B-A749-AF22-E590-7420797D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0C0B-205D-0AE8-6248-F7A8DB6AF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0BD6D-5B73-0AAE-DD5E-0BD43B382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10</a:t>
            </a:r>
          </a:p>
          <a:p>
            <a:pPr marL="0" indent="0">
              <a:buNone/>
            </a:pPr>
            <a:r>
              <a:rPr lang="en-US" dirty="0"/>
              <a:t>In question 9, how many parameters in this convolutional layer?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760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750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1024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320</a:t>
            </a:r>
          </a:p>
        </p:txBody>
      </p:sp>
    </p:spTree>
    <p:extLst>
      <p:ext uri="{BB962C8B-B14F-4D97-AF65-F5344CB8AC3E}">
        <p14:creationId xmlns:p14="http://schemas.microsoft.com/office/powerpoint/2010/main" val="3426883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7C6B7-A070-E515-4203-326C7122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CF5D-2629-0025-9A0D-88E5B0FF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91BB1-3A22-237D-1C97-335EAA12A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Question 10</a:t>
            </a:r>
          </a:p>
          <a:p>
            <a:pPr marL="0" indent="0">
              <a:buNone/>
            </a:pPr>
            <a:r>
              <a:rPr lang="en-US" dirty="0"/>
              <a:t>In question 9, how many parameters in this convolutional layer?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760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750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1024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320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Parameters per filter = Filter </a:t>
            </a:r>
            <a:r>
              <a:rPr lang="en-US" dirty="0" err="1"/>
              <a:t>size×Input</a:t>
            </a:r>
            <a:r>
              <a:rPr lang="en-US" dirty="0"/>
              <a:t> depth+1  = 5*5*3 + 1 = 76</a:t>
            </a:r>
          </a:p>
          <a:p>
            <a:pPr marL="0" indent="0">
              <a:buNone/>
            </a:pPr>
            <a:r>
              <a:rPr lang="en-US" dirty="0"/>
              <a:t>No of filters                    = 10</a:t>
            </a:r>
          </a:p>
          <a:p>
            <a:pPr marL="0" indent="0">
              <a:buNone/>
            </a:pPr>
            <a:r>
              <a:rPr lang="en-US" dirty="0"/>
              <a:t>Total Parameters         = 76 * 10 = 760</a:t>
            </a:r>
          </a:p>
        </p:txBody>
      </p:sp>
    </p:spTree>
    <p:extLst>
      <p:ext uri="{BB962C8B-B14F-4D97-AF65-F5344CB8AC3E}">
        <p14:creationId xmlns:p14="http://schemas.microsoft.com/office/powerpoint/2010/main" val="1998529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03567-9DA2-CD5D-58AA-38A5D853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49A9-4EC9-3550-8E49-B4481079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CDFC1-F0CB-6469-7D1F-6B845D4ED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11</a:t>
            </a:r>
          </a:p>
          <a:p>
            <a:pPr marL="0" indent="0">
              <a:buNone/>
            </a:pPr>
            <a:r>
              <a:rPr lang="en-US" dirty="0"/>
              <a:t>Which of the following is the primary purpose of convolutional layers in a Convolutional Neural Network (CNN)?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reduce the dimensionality of the data using pooling techniques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extract spatial features such as edges, textures, and patterns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connect every neuron to every other neuron in adjacent layer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classify input data into predefined categories</a:t>
            </a:r>
          </a:p>
        </p:txBody>
      </p:sp>
    </p:spTree>
    <p:extLst>
      <p:ext uri="{BB962C8B-B14F-4D97-AF65-F5344CB8AC3E}">
        <p14:creationId xmlns:p14="http://schemas.microsoft.com/office/powerpoint/2010/main" val="2714224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8B16-3073-0C64-18A4-3B17CAD9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6C78-A027-2A95-96E9-CE293634A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C0B47-AC61-0800-1275-EAFB9B6A4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11</a:t>
            </a:r>
          </a:p>
          <a:p>
            <a:pPr marL="0" indent="0">
              <a:buNone/>
            </a:pPr>
            <a:r>
              <a:rPr lang="en-US" dirty="0"/>
              <a:t>Which of the following is the primary purpose of convolutional layers in a Convolutional Neural Network (CNN)?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reduce the dimensionality of the data using pooling techniques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extract spatial features such as edges, textures, and patterns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connect every neuron to every other neuron in adjacent layer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classify input data into predefined categories</a:t>
            </a:r>
          </a:p>
        </p:txBody>
      </p:sp>
    </p:spTree>
    <p:extLst>
      <p:ext uri="{BB962C8B-B14F-4D97-AF65-F5344CB8AC3E}">
        <p14:creationId xmlns:p14="http://schemas.microsoft.com/office/powerpoint/2010/main" val="823652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1B90-601A-228C-17E5-4125EDDA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7BB0-EFB6-7107-06A0-E5A288A5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A1ED-8C53-68B5-CF61-E2480949A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12</a:t>
            </a:r>
          </a:p>
          <a:p>
            <a:pPr marL="0" indent="0">
              <a:buNone/>
            </a:pPr>
            <a:r>
              <a:rPr lang="en-US" dirty="0"/>
              <a:t>What is the primary function of RELU activation function in a neural network?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update the weights during backpropagation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initialize the weights of the network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calculate the loss between predicted and actual outputs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introduce non-linearity into the model and help it learn complex patterns</a:t>
            </a:r>
          </a:p>
        </p:txBody>
      </p:sp>
    </p:spTree>
    <p:extLst>
      <p:ext uri="{BB962C8B-B14F-4D97-AF65-F5344CB8AC3E}">
        <p14:creationId xmlns:p14="http://schemas.microsoft.com/office/powerpoint/2010/main" val="1396508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D5DF-9777-A918-1F04-363264C39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3DB3-A210-0613-D145-C1B13BDE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9166B-C2A6-DD75-30F4-426B55433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1516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Question 13</a:t>
            </a:r>
          </a:p>
          <a:p>
            <a:pPr marL="0" indent="0">
              <a:buNone/>
            </a:pPr>
            <a:r>
              <a:rPr lang="en-US" dirty="0"/>
              <a:t>What is a key characteristic of a Large Language Model (LLM)?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operates exclusively on structured data such as tables and graphs.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requires manual feature engineering for every natural language task.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uses billions of parameters to understand and generate human-like text.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is trained only on domain-specific datasets for niche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59030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2C2F4-C8DE-D635-E6B3-60C3945BB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28E4-88DD-3309-FAFA-13B3131C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AC69C-52F2-065C-6C4E-571A50BE8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1516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Question 13</a:t>
            </a:r>
          </a:p>
          <a:p>
            <a:pPr marL="0" indent="0">
              <a:buNone/>
            </a:pPr>
            <a:r>
              <a:rPr lang="en-US" dirty="0"/>
              <a:t>What is a key characteristic of a Large Language Model (LLM)?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operates exclusively on structured data such as tables and graphs.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requires manual feature engineering for every natural language task.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uses billions of parameters to understand and generate human-like text.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is trained only on domain-specific datasets for niche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94810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5F7E8-73A1-9682-2D0F-D6F1E883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3AB7-5601-F37D-5788-17B1876C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2EAFD-393B-9F1B-418C-E2226CBB6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151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14</a:t>
            </a:r>
          </a:p>
          <a:p>
            <a:pPr marL="0" indent="0">
              <a:buNone/>
            </a:pPr>
            <a:r>
              <a:rPr lang="en-US" dirty="0"/>
              <a:t>Which of the following techniques is commonly used to fine-tune a Large Language Model (LLM) for a specific task?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Convolutional layers for feature extraction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Hard-coding rules for natural language processing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Using decision trees to interpret the model outputs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Transfer learning with task-specific data</a:t>
            </a:r>
          </a:p>
        </p:txBody>
      </p:sp>
    </p:spTree>
    <p:extLst>
      <p:ext uri="{BB962C8B-B14F-4D97-AF65-F5344CB8AC3E}">
        <p14:creationId xmlns:p14="http://schemas.microsoft.com/office/powerpoint/2010/main" val="1070470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AD1C-7035-9EA4-A66E-6D1A5931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B831-E83B-3757-5CD7-BA398894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D1B9C-18EB-BE75-E6A0-3E3FCDD8B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151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15</a:t>
            </a:r>
          </a:p>
          <a:p>
            <a:pPr marL="0" indent="0">
              <a:buNone/>
            </a:pPr>
            <a:r>
              <a:rPr lang="en-US" dirty="0"/>
              <a:t>Which of the following loss functions is most commonly used for multi-class classification problems?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Categorical Cross-Entropy loss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Mean Squared Error (MSE)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Mean Absolute Error (MAE)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69831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896</Words>
  <Application>Microsoft Office PowerPoint</Application>
  <PresentationFormat>Widescreen</PresentationFormat>
  <Paragraphs>155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Office Theme</vt:lpstr>
      <vt:lpstr>Mock ICT 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Aloka Fernando</dc:creator>
  <cp:lastModifiedBy>Aloka Fernando</cp:lastModifiedBy>
  <cp:revision>1</cp:revision>
  <dcterms:created xsi:type="dcterms:W3CDTF">2025-12-02T00:42:02Z</dcterms:created>
  <dcterms:modified xsi:type="dcterms:W3CDTF">2025-12-02T01:32:19Z</dcterms:modified>
</cp:coreProperties>
</file>